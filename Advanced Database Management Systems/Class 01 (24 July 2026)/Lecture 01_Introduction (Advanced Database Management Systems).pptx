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embeddedFontLst>
    <p:embeddedFont>
      <p:font typeface="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Garamond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Garamond-italic.fntdata"/><Relationship Id="rId16" Type="http://schemas.openxmlformats.org/officeDocument/2006/relationships/slide" Target="slides/slide10.xml"/><Relationship Id="rId38" Type="http://schemas.openxmlformats.org/officeDocument/2006/relationships/font" Target="fonts/Garamon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" name="Google Shape;5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09600" y="1219200"/>
            <a:ext cx="79248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" name="Google Shape;11;p1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pic>
        <p:nvPicPr>
          <p:cNvPr descr="Jagannath_University_logo.png"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04200" y="5918200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/>
        </p:nvSpPr>
        <p:spPr>
          <a:xfrm>
            <a:off x="228600" y="1447800"/>
            <a:ext cx="9470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US" sz="5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</a:t>
            </a:r>
            <a:r>
              <a:rPr b="1" i="0" lang="en-US" sz="5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</a:t>
            </a:r>
            <a:r>
              <a:rPr lang="en-US" sz="600"/>
              <a:t>         </a:t>
            </a:r>
            <a:r>
              <a:rPr b="1" i="0" lang="en-US" sz="5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</a:t>
            </a:r>
            <a:endParaRPr sz="600"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533400" y="3962400"/>
            <a:ext cx="8001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n-US" sz="2400"/>
              <a:t>Arnisha Akhter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lang="en-US" sz="2400"/>
              <a:t>Lecturer,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Dept. of CSE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Jagannath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/>
        </p:nvSpPr>
        <p:spPr>
          <a:xfrm>
            <a:off x="381000" y="914400"/>
            <a:ext cx="21336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Contents:</a:t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1981200" y="2057400"/>
            <a:ext cx="4419600" cy="2057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Outline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 textbook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Database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tch" id="56" name="Google Shape;56;p7"/>
          <p:cNvPicPr preferRelativeResize="0"/>
          <p:nvPr/>
        </p:nvPicPr>
        <p:blipFill rotWithShape="1">
          <a:blip r:embed="rId3">
            <a:alphaModFix/>
          </a:blip>
          <a:srcRect b="45712" l="0" r="0" t="5168"/>
          <a:stretch/>
        </p:blipFill>
        <p:spPr>
          <a:xfrm>
            <a:off x="76200" y="1066800"/>
            <a:ext cx="911225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Systems Today</a:t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102475" y="5005387"/>
            <a:ext cx="1433512" cy="1049337"/>
          </a:xfrm>
          <a:custGeom>
            <a:rect b="b" l="l" r="r" t="t"/>
            <a:pathLst>
              <a:path extrusionOk="0" h="661" w="903">
                <a:moveTo>
                  <a:pt x="492" y="34"/>
                </a:moveTo>
                <a:cubicBezTo>
                  <a:pt x="504" y="0"/>
                  <a:pt x="484" y="10"/>
                  <a:pt x="454" y="2"/>
                </a:cubicBezTo>
                <a:cubicBezTo>
                  <a:pt x="422" y="3"/>
                  <a:pt x="335" y="4"/>
                  <a:pt x="288" y="15"/>
                </a:cubicBezTo>
                <a:cubicBezTo>
                  <a:pt x="98" y="58"/>
                  <a:pt x="76" y="189"/>
                  <a:pt x="12" y="348"/>
                </a:cubicBezTo>
                <a:cubicBezTo>
                  <a:pt x="0" y="411"/>
                  <a:pt x="14" y="448"/>
                  <a:pt x="44" y="501"/>
                </a:cubicBezTo>
                <a:cubicBezTo>
                  <a:pt x="101" y="603"/>
                  <a:pt x="174" y="645"/>
                  <a:pt x="288" y="661"/>
                </a:cubicBezTo>
                <a:cubicBezTo>
                  <a:pt x="377" y="657"/>
                  <a:pt x="461" y="649"/>
                  <a:pt x="550" y="642"/>
                </a:cubicBezTo>
                <a:cubicBezTo>
                  <a:pt x="609" y="621"/>
                  <a:pt x="672" y="606"/>
                  <a:pt x="723" y="565"/>
                </a:cubicBezTo>
                <a:cubicBezTo>
                  <a:pt x="783" y="515"/>
                  <a:pt x="828" y="448"/>
                  <a:pt x="864" y="380"/>
                </a:cubicBezTo>
                <a:cubicBezTo>
                  <a:pt x="903" y="171"/>
                  <a:pt x="776" y="59"/>
                  <a:pt x="588" y="21"/>
                </a:cubicBezTo>
                <a:cubicBezTo>
                  <a:pt x="455" y="30"/>
                  <a:pt x="351" y="18"/>
                  <a:pt x="281" y="137"/>
                </a:cubicBezTo>
                <a:cubicBezTo>
                  <a:pt x="279" y="145"/>
                  <a:pt x="275" y="153"/>
                  <a:pt x="275" y="162"/>
                </a:cubicBezTo>
                <a:cubicBezTo>
                  <a:pt x="275" y="170"/>
                  <a:pt x="281" y="188"/>
                  <a:pt x="281" y="188"/>
                </a:cubicBezTo>
              </a:path>
            </a:pathLst>
          </a:custGeom>
          <a:noFill/>
          <a:ln cap="flat" cmpd="sng" w="38100">
            <a:solidFill>
              <a:srgbClr val="E81F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636000" y="5257800"/>
            <a:ext cx="246062" cy="409575"/>
          </a:xfrm>
          <a:custGeom>
            <a:rect b="b" l="l" r="r" t="t"/>
            <a:pathLst>
              <a:path extrusionOk="0" h="258" w="155">
                <a:moveTo>
                  <a:pt x="0" y="46"/>
                </a:moveTo>
                <a:cubicBezTo>
                  <a:pt x="9" y="6"/>
                  <a:pt x="20" y="10"/>
                  <a:pt x="58" y="2"/>
                </a:cubicBezTo>
                <a:cubicBezTo>
                  <a:pt x="75" y="4"/>
                  <a:pt x="93" y="0"/>
                  <a:pt x="109" y="8"/>
                </a:cubicBezTo>
                <a:cubicBezTo>
                  <a:pt x="155" y="31"/>
                  <a:pt x="92" y="102"/>
                  <a:pt x="70" y="117"/>
                </a:cubicBezTo>
                <a:cubicBezTo>
                  <a:pt x="51" y="147"/>
                  <a:pt x="18" y="167"/>
                  <a:pt x="13" y="206"/>
                </a:cubicBezTo>
                <a:cubicBezTo>
                  <a:pt x="10" y="223"/>
                  <a:pt x="13" y="240"/>
                  <a:pt x="13" y="258"/>
                </a:cubicBezTo>
              </a:path>
            </a:pathLst>
          </a:custGeom>
          <a:noFill/>
          <a:ln cap="flat" cmpd="sng" w="38100">
            <a:solidFill>
              <a:srgbClr val="E81F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551862" y="5802312"/>
            <a:ext cx="233362" cy="128587"/>
          </a:xfrm>
          <a:custGeom>
            <a:rect b="b" l="l" r="r" t="t"/>
            <a:pathLst>
              <a:path extrusionOk="0" h="81" w="147">
                <a:moveTo>
                  <a:pt x="76" y="12"/>
                </a:moveTo>
                <a:cubicBezTo>
                  <a:pt x="44" y="2"/>
                  <a:pt x="38" y="16"/>
                  <a:pt x="25" y="44"/>
                </a:cubicBezTo>
                <a:cubicBezTo>
                  <a:pt x="36" y="81"/>
                  <a:pt x="52" y="60"/>
                  <a:pt x="76" y="44"/>
                </a:cubicBezTo>
                <a:cubicBezTo>
                  <a:pt x="89" y="0"/>
                  <a:pt x="60" y="12"/>
                  <a:pt x="31" y="19"/>
                </a:cubicBezTo>
                <a:cubicBezTo>
                  <a:pt x="33" y="27"/>
                  <a:pt x="28" y="41"/>
                  <a:pt x="37" y="44"/>
                </a:cubicBezTo>
                <a:cubicBezTo>
                  <a:pt x="59" y="52"/>
                  <a:pt x="147" y="10"/>
                  <a:pt x="57" y="25"/>
                </a:cubicBezTo>
                <a:cubicBezTo>
                  <a:pt x="0" y="61"/>
                  <a:pt x="73" y="48"/>
                  <a:pt x="89" y="44"/>
                </a:cubicBezTo>
                <a:cubicBezTo>
                  <a:pt x="114" y="3"/>
                  <a:pt x="85" y="11"/>
                  <a:pt x="57" y="19"/>
                </a:cubicBezTo>
                <a:cubicBezTo>
                  <a:pt x="50" y="23"/>
                  <a:pt x="35" y="23"/>
                  <a:pt x="37" y="31"/>
                </a:cubicBezTo>
                <a:cubicBezTo>
                  <a:pt x="39" y="40"/>
                  <a:pt x="54" y="48"/>
                  <a:pt x="63" y="44"/>
                </a:cubicBezTo>
                <a:cubicBezTo>
                  <a:pt x="73" y="38"/>
                  <a:pt x="71" y="22"/>
                  <a:pt x="76" y="12"/>
                </a:cubicBezTo>
                <a:close/>
              </a:path>
            </a:pathLst>
          </a:custGeom>
          <a:solidFill>
            <a:srgbClr val="3366FF"/>
          </a:solidFill>
          <a:ln cap="flat" cmpd="sng" w="38100">
            <a:solidFill>
              <a:srgbClr val="E81F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517775" y="3305175"/>
            <a:ext cx="6535737" cy="1584325"/>
          </a:xfrm>
          <a:custGeom>
            <a:rect b="b" l="l" r="r" t="t"/>
            <a:pathLst>
              <a:path extrusionOk="0" h="998" w="4117">
                <a:moveTo>
                  <a:pt x="3547" y="107"/>
                </a:moveTo>
                <a:cubicBezTo>
                  <a:pt x="3482" y="151"/>
                  <a:pt x="3160" y="121"/>
                  <a:pt x="3118" y="120"/>
                </a:cubicBezTo>
                <a:cubicBezTo>
                  <a:pt x="2960" y="107"/>
                  <a:pt x="2801" y="97"/>
                  <a:pt x="2644" y="88"/>
                </a:cubicBezTo>
                <a:cubicBezTo>
                  <a:pt x="2334" y="38"/>
                  <a:pt x="1987" y="65"/>
                  <a:pt x="1678" y="62"/>
                </a:cubicBezTo>
                <a:cubicBezTo>
                  <a:pt x="1516" y="51"/>
                  <a:pt x="1353" y="53"/>
                  <a:pt x="1192" y="43"/>
                </a:cubicBezTo>
                <a:cubicBezTo>
                  <a:pt x="1049" y="20"/>
                  <a:pt x="899" y="16"/>
                  <a:pt x="756" y="11"/>
                </a:cubicBezTo>
                <a:cubicBezTo>
                  <a:pt x="650" y="1"/>
                  <a:pt x="678" y="0"/>
                  <a:pt x="545" y="11"/>
                </a:cubicBezTo>
                <a:cubicBezTo>
                  <a:pt x="478" y="16"/>
                  <a:pt x="416" y="53"/>
                  <a:pt x="353" y="68"/>
                </a:cubicBezTo>
                <a:cubicBezTo>
                  <a:pt x="305" y="100"/>
                  <a:pt x="250" y="120"/>
                  <a:pt x="206" y="158"/>
                </a:cubicBezTo>
                <a:cubicBezTo>
                  <a:pt x="150" y="204"/>
                  <a:pt x="95" y="260"/>
                  <a:pt x="59" y="324"/>
                </a:cubicBezTo>
                <a:cubicBezTo>
                  <a:pt x="45" y="346"/>
                  <a:pt x="38" y="371"/>
                  <a:pt x="27" y="395"/>
                </a:cubicBezTo>
                <a:cubicBezTo>
                  <a:pt x="14" y="462"/>
                  <a:pt x="0" y="539"/>
                  <a:pt x="40" y="600"/>
                </a:cubicBezTo>
                <a:cubicBezTo>
                  <a:pt x="53" y="658"/>
                  <a:pt x="100" y="701"/>
                  <a:pt x="142" y="740"/>
                </a:cubicBezTo>
                <a:cubicBezTo>
                  <a:pt x="187" y="781"/>
                  <a:pt x="225" y="822"/>
                  <a:pt x="283" y="849"/>
                </a:cubicBezTo>
                <a:cubicBezTo>
                  <a:pt x="433" y="919"/>
                  <a:pt x="592" y="935"/>
                  <a:pt x="756" y="945"/>
                </a:cubicBezTo>
                <a:cubicBezTo>
                  <a:pt x="953" y="971"/>
                  <a:pt x="1152" y="972"/>
                  <a:pt x="1352" y="977"/>
                </a:cubicBezTo>
                <a:cubicBezTo>
                  <a:pt x="1720" y="998"/>
                  <a:pt x="2090" y="990"/>
                  <a:pt x="2459" y="996"/>
                </a:cubicBezTo>
                <a:cubicBezTo>
                  <a:pt x="2734" y="992"/>
                  <a:pt x="3009" y="992"/>
                  <a:pt x="3284" y="977"/>
                </a:cubicBezTo>
                <a:cubicBezTo>
                  <a:pt x="3338" y="968"/>
                  <a:pt x="3322" y="970"/>
                  <a:pt x="3393" y="964"/>
                </a:cubicBezTo>
                <a:cubicBezTo>
                  <a:pt x="3439" y="959"/>
                  <a:pt x="3534" y="952"/>
                  <a:pt x="3534" y="952"/>
                </a:cubicBezTo>
                <a:cubicBezTo>
                  <a:pt x="3582" y="941"/>
                  <a:pt x="3631" y="933"/>
                  <a:pt x="3681" y="926"/>
                </a:cubicBezTo>
                <a:cubicBezTo>
                  <a:pt x="3772" y="895"/>
                  <a:pt x="3731" y="903"/>
                  <a:pt x="3803" y="894"/>
                </a:cubicBezTo>
                <a:cubicBezTo>
                  <a:pt x="3922" y="853"/>
                  <a:pt x="4031" y="808"/>
                  <a:pt x="4091" y="689"/>
                </a:cubicBezTo>
                <a:cubicBezTo>
                  <a:pt x="4117" y="578"/>
                  <a:pt x="4031" y="511"/>
                  <a:pt x="3950" y="459"/>
                </a:cubicBezTo>
                <a:cubicBezTo>
                  <a:pt x="3810" y="369"/>
                  <a:pt x="3657" y="315"/>
                  <a:pt x="3502" y="260"/>
                </a:cubicBezTo>
                <a:cubicBezTo>
                  <a:pt x="3434" y="235"/>
                  <a:pt x="3367" y="208"/>
                  <a:pt x="3297" y="196"/>
                </a:cubicBezTo>
                <a:cubicBezTo>
                  <a:pt x="3265" y="184"/>
                  <a:pt x="3233" y="180"/>
                  <a:pt x="3201" y="171"/>
                </a:cubicBezTo>
                <a:cubicBezTo>
                  <a:pt x="3189" y="167"/>
                  <a:pt x="3156" y="152"/>
                  <a:pt x="3169" y="152"/>
                </a:cubicBezTo>
              </a:path>
            </a:pathLst>
          </a:custGeom>
          <a:noFill/>
          <a:ln cap="flat" cmpd="sng" w="38100">
            <a:solidFill>
              <a:srgbClr val="E81F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214562" y="1706562"/>
            <a:ext cx="6970712" cy="1585912"/>
          </a:xfrm>
          <a:custGeom>
            <a:rect b="b" l="l" r="r" t="t"/>
            <a:pathLst>
              <a:path extrusionOk="0" h="999" w="4391">
                <a:moveTo>
                  <a:pt x="3949" y="71"/>
                </a:moveTo>
                <a:cubicBezTo>
                  <a:pt x="3904" y="85"/>
                  <a:pt x="3946" y="74"/>
                  <a:pt x="3859" y="71"/>
                </a:cubicBezTo>
                <a:cubicBezTo>
                  <a:pt x="3769" y="67"/>
                  <a:pt x="3680" y="66"/>
                  <a:pt x="3591" y="64"/>
                </a:cubicBezTo>
                <a:cubicBezTo>
                  <a:pt x="3323" y="27"/>
                  <a:pt x="3053" y="10"/>
                  <a:pt x="2784" y="0"/>
                </a:cubicBezTo>
                <a:cubicBezTo>
                  <a:pt x="2551" y="6"/>
                  <a:pt x="2319" y="21"/>
                  <a:pt x="2087" y="32"/>
                </a:cubicBezTo>
                <a:cubicBezTo>
                  <a:pt x="1692" y="75"/>
                  <a:pt x="1293" y="85"/>
                  <a:pt x="896" y="96"/>
                </a:cubicBezTo>
                <a:cubicBezTo>
                  <a:pt x="770" y="115"/>
                  <a:pt x="965" y="86"/>
                  <a:pt x="762" y="109"/>
                </a:cubicBezTo>
                <a:cubicBezTo>
                  <a:pt x="734" y="112"/>
                  <a:pt x="679" y="122"/>
                  <a:pt x="679" y="122"/>
                </a:cubicBezTo>
                <a:cubicBezTo>
                  <a:pt x="521" y="174"/>
                  <a:pt x="364" y="214"/>
                  <a:pt x="218" y="295"/>
                </a:cubicBezTo>
                <a:cubicBezTo>
                  <a:pt x="128" y="344"/>
                  <a:pt x="37" y="398"/>
                  <a:pt x="0" y="499"/>
                </a:cubicBezTo>
                <a:cubicBezTo>
                  <a:pt x="21" y="616"/>
                  <a:pt x="146" y="657"/>
                  <a:pt x="250" y="685"/>
                </a:cubicBezTo>
                <a:cubicBezTo>
                  <a:pt x="303" y="699"/>
                  <a:pt x="356" y="703"/>
                  <a:pt x="410" y="717"/>
                </a:cubicBezTo>
                <a:cubicBezTo>
                  <a:pt x="623" y="769"/>
                  <a:pt x="837" y="802"/>
                  <a:pt x="1056" y="826"/>
                </a:cubicBezTo>
                <a:cubicBezTo>
                  <a:pt x="1112" y="838"/>
                  <a:pt x="1165" y="845"/>
                  <a:pt x="1223" y="851"/>
                </a:cubicBezTo>
                <a:cubicBezTo>
                  <a:pt x="1357" y="885"/>
                  <a:pt x="1500" y="889"/>
                  <a:pt x="1639" y="896"/>
                </a:cubicBezTo>
                <a:cubicBezTo>
                  <a:pt x="1773" y="912"/>
                  <a:pt x="1906" y="921"/>
                  <a:pt x="2042" y="928"/>
                </a:cubicBezTo>
                <a:cubicBezTo>
                  <a:pt x="2123" y="936"/>
                  <a:pt x="2203" y="942"/>
                  <a:pt x="2285" y="947"/>
                </a:cubicBezTo>
                <a:cubicBezTo>
                  <a:pt x="2539" y="977"/>
                  <a:pt x="2797" y="980"/>
                  <a:pt x="3053" y="999"/>
                </a:cubicBezTo>
                <a:cubicBezTo>
                  <a:pt x="3228" y="996"/>
                  <a:pt x="3403" y="996"/>
                  <a:pt x="3578" y="992"/>
                </a:cubicBezTo>
                <a:cubicBezTo>
                  <a:pt x="3729" y="988"/>
                  <a:pt x="3887" y="955"/>
                  <a:pt x="4039" y="935"/>
                </a:cubicBezTo>
                <a:cubicBezTo>
                  <a:pt x="4091" y="917"/>
                  <a:pt x="4138" y="898"/>
                  <a:pt x="4192" y="890"/>
                </a:cubicBezTo>
                <a:cubicBezTo>
                  <a:pt x="4244" y="859"/>
                  <a:pt x="4298" y="840"/>
                  <a:pt x="4346" y="800"/>
                </a:cubicBezTo>
                <a:cubicBezTo>
                  <a:pt x="4367" y="782"/>
                  <a:pt x="4391" y="730"/>
                  <a:pt x="4391" y="730"/>
                </a:cubicBezTo>
                <a:cubicBezTo>
                  <a:pt x="4386" y="704"/>
                  <a:pt x="4385" y="677"/>
                  <a:pt x="4378" y="653"/>
                </a:cubicBezTo>
                <a:cubicBezTo>
                  <a:pt x="4360" y="592"/>
                  <a:pt x="4301" y="545"/>
                  <a:pt x="4263" y="499"/>
                </a:cubicBezTo>
                <a:cubicBezTo>
                  <a:pt x="4178" y="395"/>
                  <a:pt x="4084" y="305"/>
                  <a:pt x="3968" y="237"/>
                </a:cubicBezTo>
                <a:cubicBezTo>
                  <a:pt x="3913" y="205"/>
                  <a:pt x="3849" y="185"/>
                  <a:pt x="3795" y="154"/>
                </a:cubicBezTo>
                <a:cubicBezTo>
                  <a:pt x="3780" y="145"/>
                  <a:pt x="3766" y="135"/>
                  <a:pt x="3751" y="128"/>
                </a:cubicBezTo>
                <a:cubicBezTo>
                  <a:pt x="3738" y="122"/>
                  <a:pt x="3724" y="121"/>
                  <a:pt x="3712" y="115"/>
                </a:cubicBezTo>
                <a:cubicBezTo>
                  <a:pt x="3648" y="83"/>
                  <a:pt x="3594" y="39"/>
                  <a:pt x="3520" y="39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84162" y="914400"/>
            <a:ext cx="8769350" cy="3568700"/>
          </a:xfrm>
          <a:custGeom>
            <a:rect b="b" l="l" r="r" t="t"/>
            <a:pathLst>
              <a:path extrusionOk="0" h="2248" w="5524">
                <a:moveTo>
                  <a:pt x="506" y="1838"/>
                </a:moveTo>
                <a:cubicBezTo>
                  <a:pt x="536" y="1779"/>
                  <a:pt x="525" y="1755"/>
                  <a:pt x="467" y="1736"/>
                </a:cubicBezTo>
                <a:cubicBezTo>
                  <a:pt x="372" y="1744"/>
                  <a:pt x="275" y="1765"/>
                  <a:pt x="192" y="1813"/>
                </a:cubicBezTo>
                <a:cubicBezTo>
                  <a:pt x="174" y="1822"/>
                  <a:pt x="157" y="1833"/>
                  <a:pt x="141" y="1845"/>
                </a:cubicBezTo>
                <a:cubicBezTo>
                  <a:pt x="110" y="1865"/>
                  <a:pt x="51" y="1909"/>
                  <a:pt x="51" y="1909"/>
                </a:cubicBezTo>
                <a:cubicBezTo>
                  <a:pt x="27" y="1950"/>
                  <a:pt x="8" y="1982"/>
                  <a:pt x="0" y="2030"/>
                </a:cubicBezTo>
                <a:cubicBezTo>
                  <a:pt x="24" y="2169"/>
                  <a:pt x="142" y="2213"/>
                  <a:pt x="263" y="2248"/>
                </a:cubicBezTo>
                <a:cubicBezTo>
                  <a:pt x="308" y="2242"/>
                  <a:pt x="394" y="2239"/>
                  <a:pt x="442" y="2216"/>
                </a:cubicBezTo>
                <a:cubicBezTo>
                  <a:pt x="551" y="2161"/>
                  <a:pt x="687" y="2078"/>
                  <a:pt x="736" y="1960"/>
                </a:cubicBezTo>
                <a:cubicBezTo>
                  <a:pt x="707" y="1864"/>
                  <a:pt x="658" y="1748"/>
                  <a:pt x="551" y="1723"/>
                </a:cubicBezTo>
                <a:cubicBezTo>
                  <a:pt x="520" y="1729"/>
                  <a:pt x="510" y="1735"/>
                  <a:pt x="493" y="1761"/>
                </a:cubicBezTo>
                <a:cubicBezTo>
                  <a:pt x="500" y="1786"/>
                  <a:pt x="518" y="1795"/>
                  <a:pt x="544" y="1781"/>
                </a:cubicBezTo>
                <a:cubicBezTo>
                  <a:pt x="603" y="1748"/>
                  <a:pt x="662" y="1715"/>
                  <a:pt x="723" y="1685"/>
                </a:cubicBezTo>
                <a:cubicBezTo>
                  <a:pt x="949" y="1571"/>
                  <a:pt x="1201" y="1494"/>
                  <a:pt x="1440" y="1409"/>
                </a:cubicBezTo>
                <a:cubicBezTo>
                  <a:pt x="1722" y="1307"/>
                  <a:pt x="1991" y="1168"/>
                  <a:pt x="2279" y="1083"/>
                </a:cubicBezTo>
                <a:cubicBezTo>
                  <a:pt x="2520" y="1011"/>
                  <a:pt x="2767" y="943"/>
                  <a:pt x="3002" y="853"/>
                </a:cubicBezTo>
                <a:cubicBezTo>
                  <a:pt x="3116" y="808"/>
                  <a:pt x="3209" y="725"/>
                  <a:pt x="3322" y="680"/>
                </a:cubicBezTo>
                <a:cubicBezTo>
                  <a:pt x="3522" y="598"/>
                  <a:pt x="3724" y="517"/>
                  <a:pt x="3930" y="449"/>
                </a:cubicBezTo>
                <a:cubicBezTo>
                  <a:pt x="4010" y="422"/>
                  <a:pt x="4085" y="383"/>
                  <a:pt x="4167" y="360"/>
                </a:cubicBezTo>
                <a:cubicBezTo>
                  <a:pt x="4209" y="334"/>
                  <a:pt x="4251" y="328"/>
                  <a:pt x="4295" y="309"/>
                </a:cubicBezTo>
                <a:cubicBezTo>
                  <a:pt x="4353" y="283"/>
                  <a:pt x="4411" y="260"/>
                  <a:pt x="4474" y="251"/>
                </a:cubicBezTo>
                <a:cubicBezTo>
                  <a:pt x="4479" y="248"/>
                  <a:pt x="4590" y="199"/>
                  <a:pt x="4531" y="238"/>
                </a:cubicBezTo>
                <a:cubicBezTo>
                  <a:pt x="4479" y="320"/>
                  <a:pt x="4573" y="375"/>
                  <a:pt x="4640" y="405"/>
                </a:cubicBezTo>
                <a:cubicBezTo>
                  <a:pt x="4764" y="460"/>
                  <a:pt x="4896" y="477"/>
                  <a:pt x="5031" y="488"/>
                </a:cubicBezTo>
                <a:cubicBezTo>
                  <a:pt x="5172" y="482"/>
                  <a:pt x="5288" y="484"/>
                  <a:pt x="5415" y="424"/>
                </a:cubicBezTo>
                <a:cubicBezTo>
                  <a:pt x="5524" y="314"/>
                  <a:pt x="5418" y="225"/>
                  <a:pt x="5312" y="168"/>
                </a:cubicBezTo>
                <a:cubicBezTo>
                  <a:pt x="5129" y="70"/>
                  <a:pt x="4919" y="40"/>
                  <a:pt x="4717" y="21"/>
                </a:cubicBezTo>
                <a:cubicBezTo>
                  <a:pt x="4606" y="27"/>
                  <a:pt x="4495" y="0"/>
                  <a:pt x="4429" y="97"/>
                </a:cubicBezTo>
                <a:cubicBezTo>
                  <a:pt x="4437" y="131"/>
                  <a:pt x="4436" y="169"/>
                  <a:pt x="4455" y="200"/>
                </a:cubicBezTo>
                <a:cubicBezTo>
                  <a:pt x="4476" y="236"/>
                  <a:pt x="4576" y="268"/>
                  <a:pt x="4608" y="277"/>
                </a:cubicBezTo>
                <a:cubicBezTo>
                  <a:pt x="4643" y="286"/>
                  <a:pt x="4717" y="296"/>
                  <a:pt x="4717" y="296"/>
                </a:cubicBezTo>
              </a:path>
            </a:pathLst>
          </a:custGeom>
          <a:noFill/>
          <a:ln cap="flat" cmpd="sng" w="381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92087" y="5132387"/>
            <a:ext cx="1476375" cy="1087437"/>
          </a:xfrm>
          <a:custGeom>
            <a:rect b="b" l="l" r="r" t="t"/>
            <a:pathLst>
              <a:path extrusionOk="0" h="685" w="930">
                <a:moveTo>
                  <a:pt x="737" y="160"/>
                </a:moveTo>
                <a:cubicBezTo>
                  <a:pt x="732" y="143"/>
                  <a:pt x="730" y="125"/>
                  <a:pt x="724" y="109"/>
                </a:cubicBezTo>
                <a:cubicBezTo>
                  <a:pt x="697" y="47"/>
                  <a:pt x="636" y="34"/>
                  <a:pt x="577" y="20"/>
                </a:cubicBezTo>
                <a:cubicBezTo>
                  <a:pt x="410" y="30"/>
                  <a:pt x="235" y="33"/>
                  <a:pt x="109" y="160"/>
                </a:cubicBezTo>
                <a:cubicBezTo>
                  <a:pt x="62" y="206"/>
                  <a:pt x="39" y="268"/>
                  <a:pt x="13" y="327"/>
                </a:cubicBezTo>
                <a:cubicBezTo>
                  <a:pt x="5" y="387"/>
                  <a:pt x="0" y="398"/>
                  <a:pt x="20" y="468"/>
                </a:cubicBezTo>
                <a:cubicBezTo>
                  <a:pt x="58" y="604"/>
                  <a:pt x="253" y="660"/>
                  <a:pt x="372" y="685"/>
                </a:cubicBezTo>
                <a:cubicBezTo>
                  <a:pt x="414" y="683"/>
                  <a:pt x="457" y="684"/>
                  <a:pt x="500" y="679"/>
                </a:cubicBezTo>
                <a:cubicBezTo>
                  <a:pt x="648" y="658"/>
                  <a:pt x="816" y="471"/>
                  <a:pt x="897" y="352"/>
                </a:cubicBezTo>
                <a:cubicBezTo>
                  <a:pt x="919" y="285"/>
                  <a:pt x="930" y="274"/>
                  <a:pt x="909" y="192"/>
                </a:cubicBezTo>
                <a:cubicBezTo>
                  <a:pt x="904" y="174"/>
                  <a:pt x="888" y="162"/>
                  <a:pt x="877" y="148"/>
                </a:cubicBezTo>
                <a:cubicBezTo>
                  <a:pt x="781" y="26"/>
                  <a:pt x="628" y="0"/>
                  <a:pt x="481" y="0"/>
                </a:cubicBezTo>
              </a:path>
            </a:pathLst>
          </a:custGeom>
          <a:noFill/>
          <a:ln cap="flat" cmpd="sng" w="38100">
            <a:solidFill>
              <a:srgbClr val="82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tunes"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62000"/>
            <a:ext cx="769620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Systems Today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1728787" y="2360612"/>
            <a:ext cx="7345362" cy="4425950"/>
          </a:xfrm>
          <a:custGeom>
            <a:rect b="b" l="l" r="r" t="t"/>
            <a:pathLst>
              <a:path extrusionOk="0" h="9900" w="9844">
                <a:moveTo>
                  <a:pt x="3706" y="3"/>
                </a:moveTo>
                <a:cubicBezTo>
                  <a:pt x="2720" y="-25"/>
                  <a:pt x="2243" y="173"/>
                  <a:pt x="1665" y="344"/>
                </a:cubicBezTo>
                <a:cubicBezTo>
                  <a:pt x="1087" y="514"/>
                  <a:pt x="509" y="514"/>
                  <a:pt x="237" y="1026"/>
                </a:cubicBezTo>
                <a:cubicBezTo>
                  <a:pt x="-36" y="1537"/>
                  <a:pt x="67" y="2475"/>
                  <a:pt x="33" y="3412"/>
                </a:cubicBezTo>
                <a:cubicBezTo>
                  <a:pt x="-1" y="4350"/>
                  <a:pt x="-18" y="5827"/>
                  <a:pt x="33" y="6651"/>
                </a:cubicBezTo>
                <a:cubicBezTo>
                  <a:pt x="84" y="7475"/>
                  <a:pt x="16" y="7844"/>
                  <a:pt x="339" y="8355"/>
                </a:cubicBezTo>
                <a:cubicBezTo>
                  <a:pt x="662" y="8867"/>
                  <a:pt x="1155" y="9492"/>
                  <a:pt x="1971" y="9719"/>
                </a:cubicBezTo>
                <a:cubicBezTo>
                  <a:pt x="2788" y="9946"/>
                  <a:pt x="4165" y="9975"/>
                  <a:pt x="5237" y="9719"/>
                </a:cubicBezTo>
                <a:cubicBezTo>
                  <a:pt x="6308" y="9463"/>
                  <a:pt x="7635" y="9378"/>
                  <a:pt x="8400" y="8185"/>
                </a:cubicBezTo>
                <a:cubicBezTo>
                  <a:pt x="9165" y="6992"/>
                  <a:pt x="9965" y="3838"/>
                  <a:pt x="9828" y="2560"/>
                </a:cubicBezTo>
                <a:cubicBezTo>
                  <a:pt x="9692" y="1281"/>
                  <a:pt x="8604" y="940"/>
                  <a:pt x="7584" y="514"/>
                </a:cubicBezTo>
                <a:cubicBezTo>
                  <a:pt x="6563" y="88"/>
                  <a:pt x="4692" y="31"/>
                  <a:pt x="3706" y="3"/>
                </a:cubicBezTo>
                <a:close/>
                <a:moveTo>
                  <a:pt x="3706" y="3"/>
                </a:moveTo>
              </a:path>
            </a:pathLst>
          </a:custGeom>
          <a:noFill/>
          <a:ln cap="flat" cmpd="sng" w="25400">
            <a:solidFill>
              <a:srgbClr val="D60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172200" y="1295400"/>
            <a:ext cx="1676400" cy="381000"/>
          </a:xfrm>
          <a:custGeom>
            <a:rect b="b" l="l" r="r" t="t"/>
            <a:pathLst>
              <a:path extrusionOk="0" h="9551" w="9350">
                <a:moveTo>
                  <a:pt x="4662" y="614"/>
                </a:moveTo>
                <a:cubicBezTo>
                  <a:pt x="3091" y="721"/>
                  <a:pt x="1521" y="827"/>
                  <a:pt x="815" y="1891"/>
                </a:cubicBezTo>
                <a:cubicBezTo>
                  <a:pt x="110" y="2955"/>
                  <a:pt x="-402" y="5721"/>
                  <a:pt x="431" y="6997"/>
                </a:cubicBezTo>
                <a:cubicBezTo>
                  <a:pt x="1264" y="8274"/>
                  <a:pt x="4341" y="9551"/>
                  <a:pt x="5815" y="9551"/>
                </a:cubicBezTo>
                <a:cubicBezTo>
                  <a:pt x="7290" y="9551"/>
                  <a:pt x="8956" y="8487"/>
                  <a:pt x="9277" y="6997"/>
                </a:cubicBezTo>
                <a:cubicBezTo>
                  <a:pt x="9598" y="5508"/>
                  <a:pt x="8828" y="1678"/>
                  <a:pt x="7739" y="614"/>
                </a:cubicBezTo>
                <a:cubicBezTo>
                  <a:pt x="6649" y="-449"/>
                  <a:pt x="4694" y="82"/>
                  <a:pt x="2739" y="614"/>
                </a:cubicBezTo>
              </a:path>
            </a:pathLst>
          </a:custGeom>
          <a:noFill/>
          <a:ln cap="flat" cmpd="sng" w="25400">
            <a:solidFill>
              <a:srgbClr val="D60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6324600" y="914400"/>
            <a:ext cx="1600200" cy="457200"/>
          </a:xfrm>
          <a:custGeom>
            <a:rect b="b" l="l" r="r" t="t"/>
            <a:pathLst>
              <a:path extrusionOk="0" h="9827" w="9353">
                <a:moveTo>
                  <a:pt x="4297" y="0"/>
                </a:moveTo>
                <a:cubicBezTo>
                  <a:pt x="2853" y="0"/>
                  <a:pt x="1408" y="0"/>
                  <a:pt x="742" y="1224"/>
                </a:cubicBezTo>
                <a:cubicBezTo>
                  <a:pt x="75" y="2448"/>
                  <a:pt x="-295" y="5918"/>
                  <a:pt x="297" y="7346"/>
                </a:cubicBezTo>
                <a:cubicBezTo>
                  <a:pt x="890" y="8775"/>
                  <a:pt x="2964" y="9591"/>
                  <a:pt x="4297" y="9795"/>
                </a:cubicBezTo>
                <a:cubicBezTo>
                  <a:pt x="5630" y="10000"/>
                  <a:pt x="7482" y="9183"/>
                  <a:pt x="8297" y="8571"/>
                </a:cubicBezTo>
                <a:cubicBezTo>
                  <a:pt x="9112" y="7959"/>
                  <a:pt x="9112" y="7142"/>
                  <a:pt x="9186" y="6122"/>
                </a:cubicBezTo>
                <a:cubicBezTo>
                  <a:pt x="9260" y="5102"/>
                  <a:pt x="9705" y="3469"/>
                  <a:pt x="8742" y="2448"/>
                </a:cubicBezTo>
                <a:cubicBezTo>
                  <a:pt x="7779" y="1428"/>
                  <a:pt x="5593" y="714"/>
                  <a:pt x="3408" y="0"/>
                </a:cubicBezTo>
              </a:path>
            </a:pathLst>
          </a:custGeom>
          <a:noFill/>
          <a:ln cap="flat" cmpd="sng" w="25400">
            <a:solidFill>
              <a:srgbClr val="D60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304800" y="1828800"/>
            <a:ext cx="1447800" cy="4249737"/>
          </a:xfrm>
          <a:custGeom>
            <a:rect b="b" l="l" r="r" t="t"/>
            <a:pathLst>
              <a:path extrusionOk="0" h="9874" w="9677">
                <a:moveTo>
                  <a:pt x="3764" y="0"/>
                </a:moveTo>
                <a:cubicBezTo>
                  <a:pt x="2951" y="88"/>
                  <a:pt x="2139" y="176"/>
                  <a:pt x="1514" y="530"/>
                </a:cubicBezTo>
                <a:cubicBezTo>
                  <a:pt x="889" y="884"/>
                  <a:pt x="139" y="1386"/>
                  <a:pt x="14" y="2123"/>
                </a:cubicBezTo>
                <a:cubicBezTo>
                  <a:pt x="-111" y="2861"/>
                  <a:pt x="639" y="3952"/>
                  <a:pt x="764" y="4955"/>
                </a:cubicBezTo>
                <a:cubicBezTo>
                  <a:pt x="889" y="5958"/>
                  <a:pt x="701" y="7345"/>
                  <a:pt x="764" y="8141"/>
                </a:cubicBezTo>
                <a:cubicBezTo>
                  <a:pt x="826" y="8938"/>
                  <a:pt x="451" y="9469"/>
                  <a:pt x="1139" y="9734"/>
                </a:cubicBezTo>
                <a:cubicBezTo>
                  <a:pt x="1826" y="10000"/>
                  <a:pt x="3764" y="9823"/>
                  <a:pt x="4889" y="9734"/>
                </a:cubicBezTo>
                <a:cubicBezTo>
                  <a:pt x="6014" y="9646"/>
                  <a:pt x="7139" y="9705"/>
                  <a:pt x="7889" y="9203"/>
                </a:cubicBezTo>
                <a:cubicBezTo>
                  <a:pt x="8639" y="8702"/>
                  <a:pt x="9139" y="7787"/>
                  <a:pt x="9389" y="6725"/>
                </a:cubicBezTo>
                <a:cubicBezTo>
                  <a:pt x="9639" y="5663"/>
                  <a:pt x="9889" y="3716"/>
                  <a:pt x="9389" y="2831"/>
                </a:cubicBezTo>
                <a:cubicBezTo>
                  <a:pt x="8889" y="1946"/>
                  <a:pt x="7451" y="1858"/>
                  <a:pt x="6389" y="1415"/>
                </a:cubicBezTo>
                <a:cubicBezTo>
                  <a:pt x="5326" y="973"/>
                  <a:pt x="4170" y="575"/>
                  <a:pt x="3014" y="176"/>
                </a:cubicBezTo>
              </a:path>
            </a:pathLst>
          </a:custGeom>
          <a:noFill/>
          <a:ln cap="flat" cmpd="sng" w="25400">
            <a:solidFill>
              <a:srgbClr val="D60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00200"/>
            <a:ext cx="68580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Systems Today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a Database?</a:t>
            </a:r>
            <a:endParaRPr/>
          </a:p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 set of information held in a computer”</a:t>
            </a:r>
            <a:endParaRPr/>
          </a:p>
          <a:p>
            <a:pPr indent="-315912" lvl="3" marL="1339850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Oxford English Dictionary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“One or more large structured sets of </a:t>
            </a:r>
            <a:r>
              <a:rPr b="0" i="0" lang="en-US" sz="3000" u="none">
                <a:solidFill>
                  <a:srgbClr val="E81F11"/>
                </a:solidFill>
                <a:latin typeface="Arial"/>
                <a:ea typeface="Arial"/>
                <a:cs typeface="Arial"/>
                <a:sym typeface="Arial"/>
              </a:rPr>
              <a:t>persistent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data, usually associated with software to update and query the data”</a:t>
            </a:r>
            <a:endParaRPr/>
          </a:p>
          <a:p>
            <a:pPr indent="-315912" lvl="3" marL="1339850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On-Line Dictionary of Computing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 collection of data arranged for ease and speed of search and retrieval”</a:t>
            </a:r>
            <a:endParaRPr/>
          </a:p>
          <a:p>
            <a:pPr indent="-315912" lvl="3" marL="1339850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Dictionary.com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aramond"/>
              <a:buNone/>
            </a:pPr>
            <a:r>
              <a:rPr b="0" i="0" lang="en-US" sz="3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Management Systems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DBMS is a collection of programs which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management of databases 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access to data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 a query language to retrieve  information easily </a:t>
            </a:r>
            <a:endParaRPr/>
          </a:p>
          <a:p>
            <a:pPr indent="-235584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1"/>
          <p:cNvGrpSpPr/>
          <p:nvPr/>
        </p:nvGrpSpPr>
        <p:grpSpPr>
          <a:xfrm>
            <a:off x="3200400" y="3505200"/>
            <a:ext cx="4714875" cy="2781300"/>
            <a:chOff x="249" y="1366"/>
            <a:chExt cx="4114" cy="3686"/>
          </a:xfrm>
        </p:grpSpPr>
        <p:sp>
          <p:nvSpPr>
            <p:cNvPr id="96" name="Google Shape;96;p11"/>
            <p:cNvSpPr txBox="1"/>
            <p:nvPr/>
          </p:nvSpPr>
          <p:spPr>
            <a:xfrm>
              <a:off x="1090" y="2155"/>
              <a:ext cx="1984" cy="2512"/>
            </a:xfrm>
            <a:prstGeom prst="rect">
              <a:avLst/>
            </a:prstGeom>
            <a:solidFill>
              <a:schemeClr val="lt1"/>
            </a:solidFill>
            <a:ln cap="flat" cmpd="sng" w="50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1"/>
            <p:cNvSpPr txBox="1"/>
            <p:nvPr/>
          </p:nvSpPr>
          <p:spPr>
            <a:xfrm>
              <a:off x="1846" y="2719"/>
              <a:ext cx="424" cy="1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1"/>
            <p:cNvSpPr txBox="1"/>
            <p:nvPr/>
          </p:nvSpPr>
          <p:spPr>
            <a:xfrm>
              <a:off x="550" y="2719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1"/>
            <p:cNvSpPr txBox="1"/>
            <p:nvPr/>
          </p:nvSpPr>
          <p:spPr>
            <a:xfrm>
              <a:off x="550" y="3247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550" y="3823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1"/>
            <p:cNvSpPr txBox="1"/>
            <p:nvPr/>
          </p:nvSpPr>
          <p:spPr>
            <a:xfrm>
              <a:off x="1462" y="2911"/>
              <a:ext cx="52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1"/>
            <p:cNvSpPr txBox="1"/>
            <p:nvPr/>
          </p:nvSpPr>
          <p:spPr>
            <a:xfrm>
              <a:off x="1462" y="3535"/>
              <a:ext cx="952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" name="Google Shape;103;p11"/>
            <p:cNvCxnSpPr/>
            <p:nvPr/>
          </p:nvCxnSpPr>
          <p:spPr>
            <a:xfrm>
              <a:off x="1842" y="2911"/>
              <a:ext cx="0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1842" y="3535"/>
              <a:ext cx="0" cy="3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5" name="Google Shape;105;p11"/>
            <p:cNvCxnSpPr/>
            <p:nvPr/>
          </p:nvCxnSpPr>
          <p:spPr>
            <a:xfrm>
              <a:off x="2274" y="3535"/>
              <a:ext cx="0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6" name="Google Shape;106;p11"/>
            <p:cNvSpPr txBox="1"/>
            <p:nvPr/>
          </p:nvSpPr>
          <p:spPr>
            <a:xfrm>
              <a:off x="2182" y="3295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7" name="Google Shape;107;p11"/>
            <p:cNvCxnSpPr/>
            <p:nvPr/>
          </p:nvCxnSpPr>
          <p:spPr>
            <a:xfrm>
              <a:off x="2182" y="3531"/>
              <a:ext cx="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8" name="Google Shape;108;p11"/>
            <p:cNvCxnSpPr/>
            <p:nvPr/>
          </p:nvCxnSpPr>
          <p:spPr>
            <a:xfrm>
              <a:off x="2418" y="3535"/>
              <a:ext cx="0" cy="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09" name="Google Shape;109;p11"/>
            <p:cNvCxnSpPr/>
            <p:nvPr/>
          </p:nvCxnSpPr>
          <p:spPr>
            <a:xfrm>
              <a:off x="2274" y="3295"/>
              <a:ext cx="0" cy="3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0" name="Google Shape;110;p11"/>
            <p:cNvSpPr txBox="1"/>
            <p:nvPr/>
          </p:nvSpPr>
          <p:spPr>
            <a:xfrm>
              <a:off x="2086" y="3823"/>
              <a:ext cx="568" cy="52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" name="Google Shape;111;p11"/>
            <p:cNvCxnSpPr/>
            <p:nvPr/>
          </p:nvCxnSpPr>
          <p:spPr>
            <a:xfrm>
              <a:off x="2086" y="3867"/>
              <a:ext cx="3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2" name="Google Shape;112;p11"/>
            <p:cNvCxnSpPr/>
            <p:nvPr/>
          </p:nvCxnSpPr>
          <p:spPr>
            <a:xfrm rot="10800000">
              <a:off x="2418" y="3671"/>
              <a:ext cx="0" cy="2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3" name="Google Shape;113;p11"/>
            <p:cNvCxnSpPr/>
            <p:nvPr/>
          </p:nvCxnSpPr>
          <p:spPr>
            <a:xfrm>
              <a:off x="2086" y="4059"/>
              <a:ext cx="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4" name="Google Shape;114;p11"/>
            <p:cNvCxnSpPr/>
            <p:nvPr/>
          </p:nvCxnSpPr>
          <p:spPr>
            <a:xfrm rot="10800000">
              <a:off x="2274" y="3671"/>
              <a:ext cx="0" cy="3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5" name="Google Shape;115;p11"/>
            <p:cNvSpPr txBox="1"/>
            <p:nvPr/>
          </p:nvSpPr>
          <p:spPr>
            <a:xfrm>
              <a:off x="2182" y="2623"/>
              <a:ext cx="568" cy="28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" name="Google Shape;116;p11"/>
            <p:cNvCxnSpPr/>
            <p:nvPr/>
          </p:nvCxnSpPr>
          <p:spPr>
            <a:xfrm>
              <a:off x="2182" y="2715"/>
              <a:ext cx="8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7" name="Google Shape;117;p11"/>
            <p:cNvCxnSpPr/>
            <p:nvPr/>
          </p:nvCxnSpPr>
          <p:spPr>
            <a:xfrm>
              <a:off x="2274" y="2719"/>
              <a:ext cx="0" cy="18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8" name="Google Shape;118;p11"/>
            <p:cNvSpPr/>
            <p:nvPr/>
          </p:nvSpPr>
          <p:spPr>
            <a:xfrm>
              <a:off x="1222" y="2287"/>
              <a:ext cx="1720" cy="18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2034" y="4395"/>
              <a:ext cx="908" cy="140"/>
            </a:xfrm>
            <a:custGeom>
              <a:rect b="b" l="l" r="r" t="t"/>
              <a:pathLst>
                <a:path extrusionOk="0" fill="none" h="21600" w="2160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extrusionOk="0" h="21600" w="2160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1223" y="4299"/>
              <a:ext cx="812" cy="236"/>
            </a:xfrm>
            <a:custGeom>
              <a:rect b="b" l="l" r="r" t="t"/>
              <a:pathLst>
                <a:path extrusionOk="0" fill="none" h="21600" w="2160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extrusionOk="0" h="21600" w="2160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" name="Google Shape;121;p11"/>
            <p:cNvCxnSpPr/>
            <p:nvPr/>
          </p:nvCxnSpPr>
          <p:spPr>
            <a:xfrm>
              <a:off x="1218" y="2383"/>
              <a:ext cx="0" cy="19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" name="Google Shape;122;p11"/>
            <p:cNvCxnSpPr/>
            <p:nvPr/>
          </p:nvCxnSpPr>
          <p:spPr>
            <a:xfrm>
              <a:off x="2946" y="2383"/>
              <a:ext cx="0" cy="200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3" name="Google Shape;123;p11"/>
            <p:cNvSpPr txBox="1"/>
            <p:nvPr/>
          </p:nvSpPr>
          <p:spPr>
            <a:xfrm>
              <a:off x="3382" y="2575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3478" y="2623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3910" y="2575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6" name="Google Shape;126;p11"/>
            <p:cNvCxnSpPr/>
            <p:nvPr/>
          </p:nvCxnSpPr>
          <p:spPr>
            <a:xfrm>
              <a:off x="3862" y="2715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" name="Google Shape;127;p11"/>
            <p:cNvCxnSpPr/>
            <p:nvPr/>
          </p:nvCxnSpPr>
          <p:spPr>
            <a:xfrm>
              <a:off x="4002" y="2671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8" name="Google Shape;128;p11"/>
            <p:cNvCxnSpPr/>
            <p:nvPr/>
          </p:nvCxnSpPr>
          <p:spPr>
            <a:xfrm flipH="1">
              <a:off x="3902" y="2815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9" name="Google Shape;129;p11"/>
            <p:cNvCxnSpPr/>
            <p:nvPr/>
          </p:nvCxnSpPr>
          <p:spPr>
            <a:xfrm>
              <a:off x="4006" y="2815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0" name="Google Shape;130;p11"/>
            <p:cNvSpPr/>
            <p:nvPr/>
          </p:nvSpPr>
          <p:spPr>
            <a:xfrm>
              <a:off x="3910" y="310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1" name="Google Shape;131;p11"/>
            <p:cNvCxnSpPr/>
            <p:nvPr/>
          </p:nvCxnSpPr>
          <p:spPr>
            <a:xfrm>
              <a:off x="4002" y="319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2" name="Google Shape;132;p11"/>
            <p:cNvCxnSpPr/>
            <p:nvPr/>
          </p:nvCxnSpPr>
          <p:spPr>
            <a:xfrm flipH="1">
              <a:off x="3902" y="334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3" name="Google Shape;133;p11"/>
            <p:cNvCxnSpPr/>
            <p:nvPr/>
          </p:nvCxnSpPr>
          <p:spPr>
            <a:xfrm>
              <a:off x="4006" y="334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4" name="Google Shape;134;p11"/>
            <p:cNvSpPr/>
            <p:nvPr/>
          </p:nvSpPr>
          <p:spPr>
            <a:xfrm>
              <a:off x="3910" y="358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5" name="Google Shape;135;p11"/>
            <p:cNvCxnSpPr/>
            <p:nvPr/>
          </p:nvCxnSpPr>
          <p:spPr>
            <a:xfrm>
              <a:off x="4002" y="367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6" name="Google Shape;136;p11"/>
            <p:cNvCxnSpPr/>
            <p:nvPr/>
          </p:nvCxnSpPr>
          <p:spPr>
            <a:xfrm flipH="1">
              <a:off x="3902" y="382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7" name="Google Shape;137;p11"/>
            <p:cNvCxnSpPr/>
            <p:nvPr/>
          </p:nvCxnSpPr>
          <p:spPr>
            <a:xfrm>
              <a:off x="4006" y="382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8" name="Google Shape;138;p11"/>
            <p:cNvSpPr/>
            <p:nvPr/>
          </p:nvSpPr>
          <p:spPr>
            <a:xfrm>
              <a:off x="3910" y="406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9" name="Google Shape;139;p11"/>
            <p:cNvCxnSpPr/>
            <p:nvPr/>
          </p:nvCxnSpPr>
          <p:spPr>
            <a:xfrm>
              <a:off x="4002" y="415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0" name="Google Shape;140;p11"/>
            <p:cNvCxnSpPr/>
            <p:nvPr/>
          </p:nvCxnSpPr>
          <p:spPr>
            <a:xfrm flipH="1">
              <a:off x="3902" y="430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1" name="Google Shape;141;p11"/>
            <p:cNvCxnSpPr/>
            <p:nvPr/>
          </p:nvCxnSpPr>
          <p:spPr>
            <a:xfrm>
              <a:off x="4006" y="430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2" name="Google Shape;142;p11"/>
            <p:cNvCxnSpPr/>
            <p:nvPr/>
          </p:nvCxnSpPr>
          <p:spPr>
            <a:xfrm>
              <a:off x="3862" y="324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3" name="Google Shape;143;p11"/>
            <p:cNvCxnSpPr/>
            <p:nvPr/>
          </p:nvCxnSpPr>
          <p:spPr>
            <a:xfrm>
              <a:off x="3862" y="372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4" name="Google Shape;144;p11"/>
            <p:cNvCxnSpPr/>
            <p:nvPr/>
          </p:nvCxnSpPr>
          <p:spPr>
            <a:xfrm>
              <a:off x="3862" y="420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45" name="Google Shape;145;p11"/>
            <p:cNvCxnSpPr/>
            <p:nvPr/>
          </p:nvCxnSpPr>
          <p:spPr>
            <a:xfrm>
              <a:off x="838" y="2815"/>
              <a:ext cx="616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46" name="Google Shape;146;p11"/>
            <p:cNvCxnSpPr/>
            <p:nvPr/>
          </p:nvCxnSpPr>
          <p:spPr>
            <a:xfrm>
              <a:off x="838" y="3339"/>
              <a:ext cx="10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47" name="Google Shape;147;p11"/>
            <p:cNvCxnSpPr/>
            <p:nvPr/>
          </p:nvCxnSpPr>
          <p:spPr>
            <a:xfrm flipH="1" rot="10800000">
              <a:off x="838" y="3623"/>
              <a:ext cx="616" cy="29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48" name="Google Shape;148;p11"/>
            <p:cNvCxnSpPr/>
            <p:nvPr/>
          </p:nvCxnSpPr>
          <p:spPr>
            <a:xfrm>
              <a:off x="2758" y="2763"/>
              <a:ext cx="6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49" name="Google Shape;149;p11"/>
            <p:cNvCxnSpPr/>
            <p:nvPr/>
          </p:nvCxnSpPr>
          <p:spPr>
            <a:xfrm flipH="1" rot="10800000">
              <a:off x="2518" y="3239"/>
              <a:ext cx="856" cy="15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50" name="Google Shape;150;p11"/>
            <p:cNvCxnSpPr/>
            <p:nvPr/>
          </p:nvCxnSpPr>
          <p:spPr>
            <a:xfrm>
              <a:off x="2422" y="3723"/>
              <a:ext cx="95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51" name="Google Shape;151;p11"/>
            <p:cNvCxnSpPr/>
            <p:nvPr/>
          </p:nvCxnSpPr>
          <p:spPr>
            <a:xfrm>
              <a:off x="2662" y="3967"/>
              <a:ext cx="712" cy="28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52" name="Google Shape;152;p11"/>
            <p:cNvSpPr txBox="1"/>
            <p:nvPr/>
          </p:nvSpPr>
          <p:spPr>
            <a:xfrm>
              <a:off x="3382" y="3103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3478" y="3151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1"/>
            <p:cNvSpPr txBox="1"/>
            <p:nvPr/>
          </p:nvSpPr>
          <p:spPr>
            <a:xfrm>
              <a:off x="3382" y="3583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3478" y="3631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1"/>
            <p:cNvSpPr txBox="1"/>
            <p:nvPr/>
          </p:nvSpPr>
          <p:spPr>
            <a:xfrm>
              <a:off x="3382" y="4111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3478" y="4159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1"/>
            <p:cNvSpPr txBox="1"/>
            <p:nvPr/>
          </p:nvSpPr>
          <p:spPr>
            <a:xfrm>
              <a:off x="249" y="4142"/>
              <a:ext cx="1167" cy="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program</a:t>
              </a:r>
              <a:endParaRPr/>
            </a:p>
          </p:txBody>
        </p:sp>
        <p:sp>
          <p:nvSpPr>
            <p:cNvPr id="159" name="Google Shape;159;p11"/>
            <p:cNvSpPr txBox="1"/>
            <p:nvPr/>
          </p:nvSpPr>
          <p:spPr>
            <a:xfrm>
              <a:off x="3321" y="4525"/>
              <a:ext cx="1042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End-user</a:t>
              </a:r>
              <a:endParaRPr/>
            </a:p>
          </p:txBody>
        </p:sp>
        <p:sp>
          <p:nvSpPr>
            <p:cNvPr id="160" name="Google Shape;160;p11"/>
            <p:cNvSpPr txBox="1"/>
            <p:nvPr/>
          </p:nvSpPr>
          <p:spPr>
            <a:xfrm>
              <a:off x="1778" y="1366"/>
              <a:ext cx="807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DBMS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aramond"/>
              <a:buNone/>
            </a:pPr>
            <a:r>
              <a:rPr b="0" i="0" lang="en-US" sz="3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Management Systems</a:t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DBMS contains information about a particular enterprise</a:t>
            </a:r>
            <a:endParaRPr/>
          </a:p>
          <a:p>
            <a:pPr indent="-325436" lvl="1" marL="669925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of interrelated data</a:t>
            </a:r>
            <a:endParaRPr/>
          </a:p>
          <a:p>
            <a:pPr indent="-325436" lvl="1" marL="669925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Set of programs to access the data</a:t>
            </a:r>
            <a:endParaRPr/>
          </a:p>
          <a:p>
            <a:pPr indent="-325436" lvl="1" marL="669925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This data is called database</a:t>
            </a:r>
            <a:endParaRPr/>
          </a:p>
          <a:p>
            <a:pPr indent="-235584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12"/>
          <p:cNvGrpSpPr/>
          <p:nvPr/>
        </p:nvGrpSpPr>
        <p:grpSpPr>
          <a:xfrm>
            <a:off x="3200400" y="4100512"/>
            <a:ext cx="4714875" cy="2185987"/>
            <a:chOff x="249" y="2155"/>
            <a:chExt cx="4114" cy="2897"/>
          </a:xfrm>
        </p:grpSpPr>
        <p:sp>
          <p:nvSpPr>
            <p:cNvPr id="168" name="Google Shape;168;p12"/>
            <p:cNvSpPr txBox="1"/>
            <p:nvPr/>
          </p:nvSpPr>
          <p:spPr>
            <a:xfrm>
              <a:off x="1090" y="2155"/>
              <a:ext cx="1984" cy="2512"/>
            </a:xfrm>
            <a:prstGeom prst="rect">
              <a:avLst/>
            </a:prstGeom>
            <a:solidFill>
              <a:schemeClr val="lt1"/>
            </a:solidFill>
            <a:ln cap="flat" cmpd="sng" w="50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12"/>
            <p:cNvSpPr txBox="1"/>
            <p:nvPr/>
          </p:nvSpPr>
          <p:spPr>
            <a:xfrm>
              <a:off x="1846" y="2719"/>
              <a:ext cx="424" cy="1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12"/>
            <p:cNvSpPr txBox="1"/>
            <p:nvPr/>
          </p:nvSpPr>
          <p:spPr>
            <a:xfrm>
              <a:off x="550" y="2719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12"/>
            <p:cNvSpPr txBox="1"/>
            <p:nvPr/>
          </p:nvSpPr>
          <p:spPr>
            <a:xfrm>
              <a:off x="550" y="3247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12"/>
            <p:cNvSpPr txBox="1"/>
            <p:nvPr/>
          </p:nvSpPr>
          <p:spPr>
            <a:xfrm>
              <a:off x="550" y="3823"/>
              <a:ext cx="28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12"/>
            <p:cNvSpPr txBox="1"/>
            <p:nvPr/>
          </p:nvSpPr>
          <p:spPr>
            <a:xfrm>
              <a:off x="1462" y="2911"/>
              <a:ext cx="520" cy="2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12"/>
            <p:cNvSpPr txBox="1"/>
            <p:nvPr/>
          </p:nvSpPr>
          <p:spPr>
            <a:xfrm>
              <a:off x="1462" y="3535"/>
              <a:ext cx="952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5" name="Google Shape;175;p12"/>
            <p:cNvCxnSpPr/>
            <p:nvPr/>
          </p:nvCxnSpPr>
          <p:spPr>
            <a:xfrm>
              <a:off x="1842" y="2911"/>
              <a:ext cx="0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6" name="Google Shape;176;p12"/>
            <p:cNvCxnSpPr/>
            <p:nvPr/>
          </p:nvCxnSpPr>
          <p:spPr>
            <a:xfrm>
              <a:off x="1842" y="3535"/>
              <a:ext cx="0" cy="3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7" name="Google Shape;177;p12"/>
            <p:cNvCxnSpPr/>
            <p:nvPr/>
          </p:nvCxnSpPr>
          <p:spPr>
            <a:xfrm>
              <a:off x="2274" y="3535"/>
              <a:ext cx="0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8" name="Google Shape;178;p12"/>
            <p:cNvSpPr txBox="1"/>
            <p:nvPr/>
          </p:nvSpPr>
          <p:spPr>
            <a:xfrm>
              <a:off x="2182" y="3295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9" name="Google Shape;179;p12"/>
            <p:cNvCxnSpPr/>
            <p:nvPr/>
          </p:nvCxnSpPr>
          <p:spPr>
            <a:xfrm>
              <a:off x="2182" y="3531"/>
              <a:ext cx="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0" name="Google Shape;180;p12"/>
            <p:cNvCxnSpPr/>
            <p:nvPr/>
          </p:nvCxnSpPr>
          <p:spPr>
            <a:xfrm>
              <a:off x="2418" y="3535"/>
              <a:ext cx="0" cy="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1" name="Google Shape;181;p12"/>
            <p:cNvCxnSpPr/>
            <p:nvPr/>
          </p:nvCxnSpPr>
          <p:spPr>
            <a:xfrm>
              <a:off x="2274" y="3295"/>
              <a:ext cx="0" cy="32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2" name="Google Shape;182;p12"/>
            <p:cNvSpPr txBox="1"/>
            <p:nvPr/>
          </p:nvSpPr>
          <p:spPr>
            <a:xfrm>
              <a:off x="2086" y="3823"/>
              <a:ext cx="568" cy="52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3" name="Google Shape;183;p12"/>
            <p:cNvCxnSpPr/>
            <p:nvPr/>
          </p:nvCxnSpPr>
          <p:spPr>
            <a:xfrm>
              <a:off x="2086" y="3867"/>
              <a:ext cx="32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" name="Google Shape;184;p12"/>
            <p:cNvCxnSpPr/>
            <p:nvPr/>
          </p:nvCxnSpPr>
          <p:spPr>
            <a:xfrm rot="10800000">
              <a:off x="2418" y="3671"/>
              <a:ext cx="0" cy="2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5" name="Google Shape;185;p12"/>
            <p:cNvCxnSpPr/>
            <p:nvPr/>
          </p:nvCxnSpPr>
          <p:spPr>
            <a:xfrm>
              <a:off x="2086" y="4059"/>
              <a:ext cx="18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6" name="Google Shape;186;p12"/>
            <p:cNvCxnSpPr/>
            <p:nvPr/>
          </p:nvCxnSpPr>
          <p:spPr>
            <a:xfrm rot="10800000">
              <a:off x="2274" y="3671"/>
              <a:ext cx="0" cy="3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7" name="Google Shape;187;p12"/>
            <p:cNvSpPr txBox="1"/>
            <p:nvPr/>
          </p:nvSpPr>
          <p:spPr>
            <a:xfrm>
              <a:off x="2182" y="2623"/>
              <a:ext cx="568" cy="28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8" name="Google Shape;188;p12"/>
            <p:cNvCxnSpPr/>
            <p:nvPr/>
          </p:nvCxnSpPr>
          <p:spPr>
            <a:xfrm>
              <a:off x="2182" y="2715"/>
              <a:ext cx="8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9" name="Google Shape;189;p12"/>
            <p:cNvCxnSpPr/>
            <p:nvPr/>
          </p:nvCxnSpPr>
          <p:spPr>
            <a:xfrm>
              <a:off x="2274" y="2719"/>
              <a:ext cx="0" cy="18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90" name="Google Shape;190;p12"/>
            <p:cNvSpPr/>
            <p:nvPr/>
          </p:nvSpPr>
          <p:spPr>
            <a:xfrm>
              <a:off x="1222" y="2287"/>
              <a:ext cx="1720" cy="184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2034" y="4395"/>
              <a:ext cx="908" cy="140"/>
            </a:xfrm>
            <a:custGeom>
              <a:rect b="b" l="l" r="r" t="t"/>
              <a:pathLst>
                <a:path extrusionOk="0" fill="none" h="21600" w="2160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extrusionOk="0" h="21600" w="2160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1223" y="4299"/>
              <a:ext cx="812" cy="236"/>
            </a:xfrm>
            <a:custGeom>
              <a:rect b="b" l="l" r="r" t="t"/>
              <a:pathLst>
                <a:path extrusionOk="0" fill="none" h="21600" w="2160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extrusionOk="0" h="21600" w="2160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3" name="Google Shape;193;p12"/>
            <p:cNvCxnSpPr/>
            <p:nvPr/>
          </p:nvCxnSpPr>
          <p:spPr>
            <a:xfrm>
              <a:off x="1218" y="2383"/>
              <a:ext cx="0" cy="19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4" name="Google Shape;194;p12"/>
            <p:cNvCxnSpPr/>
            <p:nvPr/>
          </p:nvCxnSpPr>
          <p:spPr>
            <a:xfrm>
              <a:off x="2946" y="2383"/>
              <a:ext cx="0" cy="200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95" name="Google Shape;195;p12"/>
            <p:cNvSpPr txBox="1"/>
            <p:nvPr/>
          </p:nvSpPr>
          <p:spPr>
            <a:xfrm>
              <a:off x="3382" y="2575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3478" y="2623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3910" y="2575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8" name="Google Shape;198;p12"/>
            <p:cNvCxnSpPr/>
            <p:nvPr/>
          </p:nvCxnSpPr>
          <p:spPr>
            <a:xfrm>
              <a:off x="3862" y="2715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9" name="Google Shape;199;p12"/>
            <p:cNvCxnSpPr/>
            <p:nvPr/>
          </p:nvCxnSpPr>
          <p:spPr>
            <a:xfrm>
              <a:off x="4002" y="2671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0" name="Google Shape;200;p12"/>
            <p:cNvCxnSpPr/>
            <p:nvPr/>
          </p:nvCxnSpPr>
          <p:spPr>
            <a:xfrm flipH="1">
              <a:off x="3902" y="2815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1" name="Google Shape;201;p12"/>
            <p:cNvCxnSpPr/>
            <p:nvPr/>
          </p:nvCxnSpPr>
          <p:spPr>
            <a:xfrm>
              <a:off x="4006" y="2815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02" name="Google Shape;202;p12"/>
            <p:cNvSpPr/>
            <p:nvPr/>
          </p:nvSpPr>
          <p:spPr>
            <a:xfrm>
              <a:off x="3910" y="310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3" name="Google Shape;203;p12"/>
            <p:cNvCxnSpPr/>
            <p:nvPr/>
          </p:nvCxnSpPr>
          <p:spPr>
            <a:xfrm>
              <a:off x="4002" y="319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4" name="Google Shape;204;p12"/>
            <p:cNvCxnSpPr/>
            <p:nvPr/>
          </p:nvCxnSpPr>
          <p:spPr>
            <a:xfrm flipH="1">
              <a:off x="3902" y="334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5" name="Google Shape;205;p12"/>
            <p:cNvCxnSpPr/>
            <p:nvPr/>
          </p:nvCxnSpPr>
          <p:spPr>
            <a:xfrm>
              <a:off x="4006" y="334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06" name="Google Shape;206;p12"/>
            <p:cNvSpPr/>
            <p:nvPr/>
          </p:nvSpPr>
          <p:spPr>
            <a:xfrm>
              <a:off x="3910" y="358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7" name="Google Shape;207;p12"/>
            <p:cNvCxnSpPr/>
            <p:nvPr/>
          </p:nvCxnSpPr>
          <p:spPr>
            <a:xfrm>
              <a:off x="4002" y="367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8" name="Google Shape;208;p12"/>
            <p:cNvCxnSpPr/>
            <p:nvPr/>
          </p:nvCxnSpPr>
          <p:spPr>
            <a:xfrm flipH="1">
              <a:off x="3902" y="382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9" name="Google Shape;209;p12"/>
            <p:cNvCxnSpPr/>
            <p:nvPr/>
          </p:nvCxnSpPr>
          <p:spPr>
            <a:xfrm>
              <a:off x="4006" y="382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10" name="Google Shape;210;p12"/>
            <p:cNvSpPr/>
            <p:nvPr/>
          </p:nvSpPr>
          <p:spPr>
            <a:xfrm>
              <a:off x="3910" y="4063"/>
              <a:ext cx="184" cy="8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1" name="Google Shape;211;p12"/>
            <p:cNvCxnSpPr/>
            <p:nvPr/>
          </p:nvCxnSpPr>
          <p:spPr>
            <a:xfrm>
              <a:off x="4002" y="4159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2" name="Google Shape;212;p12"/>
            <p:cNvCxnSpPr/>
            <p:nvPr/>
          </p:nvCxnSpPr>
          <p:spPr>
            <a:xfrm flipH="1">
              <a:off x="3902" y="4303"/>
              <a:ext cx="104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3" name="Google Shape;213;p12"/>
            <p:cNvCxnSpPr/>
            <p:nvPr/>
          </p:nvCxnSpPr>
          <p:spPr>
            <a:xfrm>
              <a:off x="4006" y="4303"/>
              <a:ext cx="88" cy="4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4" name="Google Shape;214;p12"/>
            <p:cNvCxnSpPr/>
            <p:nvPr/>
          </p:nvCxnSpPr>
          <p:spPr>
            <a:xfrm>
              <a:off x="3862" y="324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5" name="Google Shape;215;p12"/>
            <p:cNvCxnSpPr/>
            <p:nvPr/>
          </p:nvCxnSpPr>
          <p:spPr>
            <a:xfrm>
              <a:off x="3862" y="372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6" name="Google Shape;216;p12"/>
            <p:cNvCxnSpPr/>
            <p:nvPr/>
          </p:nvCxnSpPr>
          <p:spPr>
            <a:xfrm>
              <a:off x="3862" y="4203"/>
              <a:ext cx="2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7" name="Google Shape;217;p12"/>
            <p:cNvCxnSpPr/>
            <p:nvPr/>
          </p:nvCxnSpPr>
          <p:spPr>
            <a:xfrm>
              <a:off x="838" y="2815"/>
              <a:ext cx="616" cy="2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18" name="Google Shape;218;p12"/>
            <p:cNvCxnSpPr/>
            <p:nvPr/>
          </p:nvCxnSpPr>
          <p:spPr>
            <a:xfrm>
              <a:off x="838" y="3339"/>
              <a:ext cx="10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19" name="Google Shape;219;p12"/>
            <p:cNvCxnSpPr/>
            <p:nvPr/>
          </p:nvCxnSpPr>
          <p:spPr>
            <a:xfrm flipH="1" rot="10800000">
              <a:off x="838" y="3623"/>
              <a:ext cx="616" cy="29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20" name="Google Shape;220;p12"/>
            <p:cNvCxnSpPr/>
            <p:nvPr/>
          </p:nvCxnSpPr>
          <p:spPr>
            <a:xfrm>
              <a:off x="2758" y="2763"/>
              <a:ext cx="6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21" name="Google Shape;221;p12"/>
            <p:cNvCxnSpPr/>
            <p:nvPr/>
          </p:nvCxnSpPr>
          <p:spPr>
            <a:xfrm flipH="1" rot="10800000">
              <a:off x="2518" y="3239"/>
              <a:ext cx="856" cy="15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22" name="Google Shape;222;p12"/>
            <p:cNvCxnSpPr/>
            <p:nvPr/>
          </p:nvCxnSpPr>
          <p:spPr>
            <a:xfrm>
              <a:off x="2422" y="3723"/>
              <a:ext cx="95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223" name="Google Shape;223;p12"/>
            <p:cNvCxnSpPr/>
            <p:nvPr/>
          </p:nvCxnSpPr>
          <p:spPr>
            <a:xfrm>
              <a:off x="2662" y="3967"/>
              <a:ext cx="712" cy="28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24" name="Google Shape;224;p12"/>
            <p:cNvSpPr txBox="1"/>
            <p:nvPr/>
          </p:nvSpPr>
          <p:spPr>
            <a:xfrm>
              <a:off x="3382" y="3103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3478" y="3151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2"/>
            <p:cNvSpPr txBox="1"/>
            <p:nvPr/>
          </p:nvSpPr>
          <p:spPr>
            <a:xfrm>
              <a:off x="3382" y="3583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3478" y="3631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3382" y="4111"/>
              <a:ext cx="328" cy="32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3478" y="4159"/>
              <a:ext cx="136" cy="2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249" y="4142"/>
              <a:ext cx="1167" cy="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program</a:t>
              </a:r>
              <a:endParaRPr/>
            </a:p>
          </p:txBody>
        </p:sp>
        <p:sp>
          <p:nvSpPr>
            <p:cNvPr id="231" name="Google Shape;231;p12"/>
            <p:cNvSpPr txBox="1"/>
            <p:nvPr/>
          </p:nvSpPr>
          <p:spPr>
            <a:xfrm>
              <a:off x="3321" y="4525"/>
              <a:ext cx="1042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End-user</a:t>
              </a: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1645" y="2275"/>
              <a:ext cx="807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000"/>
                <a:buFont typeface="Times New Roman"/>
                <a:buNone/>
              </a:pPr>
              <a:r>
                <a:rPr b="1" i="0" lang="en-US" sz="2000" u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DBMS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762000" y="17526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1143000" y="1905000"/>
            <a:ext cx="6705600" cy="440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DBMS contains information about a particular enterprise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Collection of interrelated data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 of programs to access the data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data is called database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of DBMS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Provide an environment that is both convenient and efficient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 large bodies of information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the safety and security of the information 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Avoid possible anomalous results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1143000" y="1905000"/>
            <a:ext cx="7543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Banking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 transactions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cs3.png" id="247" name="Google Shape;2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2819400"/>
            <a:ext cx="47434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1143000" y="1905000"/>
            <a:ext cx="75438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Airlines: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Reservations, schedules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maxresdefault.jpg" id="255" name="Google Shape;2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124200"/>
            <a:ext cx="4300537" cy="24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1143000" y="1905000"/>
            <a:ext cx="7543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Universities: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Registration, grades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032111_0723_workingwith1.png" id="263" name="Google Shape;2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819400"/>
            <a:ext cx="43815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143000" y="1905000"/>
            <a:ext cx="7543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Customers, products, purchases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-shopping2.jpg" id="271" name="Google Shape;2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2895600"/>
            <a:ext cx="54768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1143000" y="1905000"/>
            <a:ext cx="754380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retailers: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tracking, customized recommendations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-grocery-store.jp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743200"/>
            <a:ext cx="4724400" cy="31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143000" y="1905000"/>
            <a:ext cx="7543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Production, inventory, orders, supply chain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opup22.png" id="287" name="Google Shape;2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971800"/>
            <a:ext cx="5916612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DBMS: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62000" y="16764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1143000" y="1905000"/>
            <a:ext cx="754380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resources: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records, salaries, tax deductions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lison_CoursewareIntro_347.jpg" id="295" name="Google Shape;2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590800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381000" y="3429000"/>
            <a:ext cx="3581400" cy="1384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Databases touch all aspects of our lives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762000" y="16002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143000" y="1676400"/>
            <a:ext cx="670560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redundancy and inconsistency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file formats, duplication of information in different files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storage and access cost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Duplicate data leads to data inconsistency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ime-machine-dual-backup-drives.jpeg"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0775" y="3657600"/>
            <a:ext cx="3578225" cy="22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762000" y="17526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1143000" y="1905000"/>
            <a:ext cx="67056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accessing data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Need to write a new program to carry out each new task</a:t>
            </a:r>
            <a:endParaRPr/>
          </a:p>
        </p:txBody>
      </p:sp>
      <p:pic>
        <p:nvPicPr>
          <p:cNvPr descr="5636183963af1977c1b3d4725be54f70.jpg" id="312" name="Google Shape;3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3124200"/>
            <a:ext cx="38100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762000" y="16002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143000" y="1752600"/>
            <a:ext cx="6705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Data isolation</a:t>
            </a:r>
            <a:endParaRPr/>
          </a:p>
          <a:p>
            <a:pPr indent="-127000" lvl="1" marL="8556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Multiple file formats, duplication of information in different files</a:t>
            </a:r>
            <a:endParaRPr/>
          </a:p>
          <a:p>
            <a:pPr indent="-127000" lvl="1" marL="8556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new application programs to retrieve the appropriate data is difficult.</a:t>
            </a:r>
            <a:endParaRPr/>
          </a:p>
          <a:p>
            <a:pPr indent="0" lvl="1" marL="8556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pic>
        <p:nvPicPr>
          <p:cNvPr descr="Capture_09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4038600"/>
            <a:ext cx="4435475" cy="18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762000" y="1752600"/>
            <a:ext cx="7924800" cy="39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1143000" y="1905000"/>
            <a:ext cx="6705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Integrity problems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 constraints  (e.g. account balance &gt; 0) become “buried” in program code rather than being stated explicitly</a:t>
            </a:r>
            <a:endParaRPr/>
          </a:p>
          <a:p>
            <a:pPr indent="-1143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Hard to add new constraints or change existing ones</a:t>
            </a:r>
            <a:endParaRPr/>
          </a:p>
        </p:txBody>
      </p:sp>
      <p:pic>
        <p:nvPicPr>
          <p:cNvPr descr="Data-Integrity-Testing.jpg"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3913187"/>
            <a:ext cx="3886200" cy="227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1143000" y="1905000"/>
            <a:ext cx="6705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Atomicity problems</a:t>
            </a:r>
            <a:endParaRPr/>
          </a:p>
          <a:p>
            <a:pPr indent="-127000" lvl="1" marL="8556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Failures may leave database in an inconsistent state with partial updates carried out</a:t>
            </a:r>
            <a:endParaRPr/>
          </a:p>
          <a:p>
            <a:pPr indent="-127000" lvl="1" marL="8556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Example: Transfer of funds from one account to another should either complete or not happen at all</a:t>
            </a:r>
            <a:endParaRPr/>
          </a:p>
        </p:txBody>
      </p:sp>
      <p:pic>
        <p:nvPicPr>
          <p:cNvPr descr="cs111cartoon.png" id="336" name="Google Shape;3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3810000"/>
            <a:ext cx="3657600" cy="245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1143000" y="1905000"/>
            <a:ext cx="670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Concurrent-access anomalies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Concurrent accessed needed for performance</a:t>
            </a:r>
            <a:endParaRPr/>
          </a:p>
          <a:p>
            <a:pPr indent="-1143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Uncontrolled concurrent accesses can lead to inconsistencies</a:t>
            </a:r>
            <a:endParaRPr/>
          </a:p>
          <a:p>
            <a:pPr indent="-1143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people reading a balance and updating it at the same time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of DBMS: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1143000" y="1905000"/>
            <a:ext cx="73152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Ordinary file system has a number of major drawbacks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Security problems 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provide user access to some, but not all, data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 user of the database system should be able to access all the data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systems offer solutions to all the above problems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nsecure-vs-secure-security-concept-word-cut-two-parts-scissors-background-d-render-over-white-35196605.jpg" id="351" name="Google Shape;351;p27"/>
          <p:cNvPicPr preferRelativeResize="0"/>
          <p:nvPr/>
        </p:nvPicPr>
        <p:blipFill rotWithShape="1">
          <a:blip r:embed="rId3">
            <a:alphaModFix/>
          </a:blip>
          <a:srcRect b="871" l="-35133" r="0" t="0"/>
          <a:stretch/>
        </p:blipFill>
        <p:spPr>
          <a:xfrm>
            <a:off x="4876800" y="0"/>
            <a:ext cx="38100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abstraction: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1143000" y="1905000"/>
            <a:ext cx="7315200" cy="30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designer need to use complex data 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user are not computer trained-hide the complexity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level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Logical level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level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abstraction: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1143000" y="1905000"/>
            <a:ext cx="7315200" cy="406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level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are actually stored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escribes complex low-level data structures in detail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Logical level</a:t>
            </a:r>
            <a:endParaRPr/>
          </a:p>
          <a:p>
            <a:pPr indent="-12700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stored in database</a:t>
            </a:r>
            <a:endParaRPr/>
          </a:p>
          <a:p>
            <a:pPr indent="-12700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Describes what relationships exist among those data</a:t>
            </a:r>
            <a:endParaRPr/>
          </a:p>
          <a:p>
            <a:pPr indent="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 Level</a:t>
            </a:r>
            <a:endParaRPr/>
          </a:p>
          <a:p>
            <a:pPr indent="-127000" lvl="4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only part of the entire database.</a:t>
            </a:r>
            <a:endParaRPr/>
          </a:p>
          <a:p>
            <a:pPr indent="-127000" lvl="4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Views can also hide information (such as an employee’s salary) for security purposes.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abstraction: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30"/>
          <p:cNvPicPr preferRelativeResize="0"/>
          <p:nvPr/>
        </p:nvPicPr>
        <p:blipFill rotWithShape="1">
          <a:blip r:embed="rId3">
            <a:alphaModFix/>
          </a:blip>
          <a:srcRect b="10446" l="3358" r="1119" t="14328"/>
          <a:stretch/>
        </p:blipFill>
        <p:spPr>
          <a:xfrm>
            <a:off x="1035050" y="1927225"/>
            <a:ext cx="7499350" cy="36353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 and Schemas: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1143000" y="2286000"/>
            <a:ext cx="7315200" cy="270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1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The overall design of the database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Schemas are changed infrequently</a:t>
            </a:r>
            <a:endParaRPr/>
          </a:p>
          <a:p>
            <a:pPr indent="-176212" lvl="1" marL="10906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declaration (with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of a programming language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Instance</a:t>
            </a:r>
            <a:endParaRPr/>
          </a:p>
          <a:p>
            <a:pPr indent="-12700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Actual content of the database at a particular point in time</a:t>
            </a:r>
            <a:endParaRPr/>
          </a:p>
          <a:p>
            <a:pPr indent="-127000" lvl="2" marL="9731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Analogous to the value of a variable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aramond"/>
              <a:buNone/>
            </a:pPr>
            <a:r>
              <a:rPr b="1" i="0" lang="en-US" sz="3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Some Commercial Database Management Systems</a:t>
            </a:r>
            <a:endParaRPr/>
          </a:p>
        </p:txBody>
      </p:sp>
      <p:sp>
        <p:nvSpPr>
          <p:cNvPr id="385" name="Google Shape;385;p32"/>
          <p:cNvSpPr txBox="1"/>
          <p:nvPr>
            <p:ph idx="1" type="body"/>
          </p:nvPr>
        </p:nvSpPr>
        <p:spPr>
          <a:xfrm>
            <a:off x="685800" y="12954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 – Oracle 8i, Oracle9i, Oracle 10g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Microsoft SQL Server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IBM DB2/DB2UDB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Informix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Sybase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MySQL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Ingress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PostgreSQL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aramond"/>
              <a:buNone/>
            </a:pPr>
            <a:r>
              <a:rPr b="1" i="0" lang="en-US" sz="3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For Personal Computers</a:t>
            </a:r>
            <a:endParaRPr/>
          </a:p>
        </p:txBody>
      </p:sp>
      <p:sp>
        <p:nvSpPr>
          <p:cNvPr id="391" name="Google Shape;391;p33"/>
          <p:cNvSpPr txBox="1"/>
          <p:nvPr>
            <p:ph idx="1" type="body"/>
          </p:nvPr>
        </p:nvSpPr>
        <p:spPr>
          <a:xfrm>
            <a:off x="685800" y="12954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Microsoft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FoxPro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dBase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/>
        </p:nvSpPr>
        <p:spPr>
          <a:xfrm>
            <a:off x="3886200" y="2895600"/>
            <a:ext cx="1093787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