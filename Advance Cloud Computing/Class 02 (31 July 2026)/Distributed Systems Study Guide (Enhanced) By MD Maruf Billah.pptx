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Plus Jakarta Sans"/>
      <p:regular r:id="rId17"/>
      <p:bold r:id="rId18"/>
      <p:italic r:id="rId19"/>
      <p:boldItalic r:id="rId20"/>
    </p:embeddedFont>
    <p:embeddedFont>
      <p:font typeface="Plus Jakarta Sans SemiBold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DEA284-FEC8-4329-8C0A-8DA3C92C3736}">
  <a:tblStyle styleId="{43DEA284-FEC8-4329-8C0A-8DA3C92C373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Italic.fntdata"/><Relationship Id="rId11" Type="http://schemas.openxmlformats.org/officeDocument/2006/relationships/slide" Target="slides/slide5.xml"/><Relationship Id="rId22" Type="http://schemas.openxmlformats.org/officeDocument/2006/relationships/font" Target="fonts/PlusJakartaSansSemiBold-bold.fntdata"/><Relationship Id="rId10" Type="http://schemas.openxmlformats.org/officeDocument/2006/relationships/slide" Target="slides/slide4.xml"/><Relationship Id="rId21" Type="http://schemas.openxmlformats.org/officeDocument/2006/relationships/font" Target="fonts/PlusJakartaSansSemiBold-regular.fntdata"/><Relationship Id="rId13" Type="http://schemas.openxmlformats.org/officeDocument/2006/relationships/slide" Target="slides/slide7.xml"/><Relationship Id="rId24" Type="http://schemas.openxmlformats.org/officeDocument/2006/relationships/font" Target="fonts/PlusJakartaSansSemiBold-boldItalic.fntdata"/><Relationship Id="rId12" Type="http://schemas.openxmlformats.org/officeDocument/2006/relationships/slide" Target="slides/slide6.xml"/><Relationship Id="rId23" Type="http://schemas.openxmlformats.org/officeDocument/2006/relationships/font" Target="fonts/PlusJakartaSans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usJakartaSans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lusJakartaSans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usJakarta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11" Type="http://schemas.openxmlformats.org/officeDocument/2006/relationships/image" Target="../media/image8.png"/><Relationship Id="rId10" Type="http://schemas.openxmlformats.org/officeDocument/2006/relationships/image" Target="../media/image1.png"/><Relationship Id="rId9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21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11" Type="http://schemas.openxmlformats.org/officeDocument/2006/relationships/image" Target="../media/image17.png"/><Relationship Id="rId10" Type="http://schemas.openxmlformats.org/officeDocument/2006/relationships/image" Target="../media/image15.png"/><Relationship Id="rId9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21.png"/><Relationship Id="rId7" Type="http://schemas.openxmlformats.org/officeDocument/2006/relationships/image" Target="../media/image4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45406" y="2585144"/>
            <a:ext cx="9501187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Distributed Systems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71500" y="2142976"/>
            <a:ext cx="53340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distributed system</a:t>
            </a:r>
            <a:r>
              <a:rPr b="0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is a collection of independent computers (called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nodes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that communicate over a network and coordinate actions via message passing.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571500" y="3590776"/>
            <a:ext cx="5334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 the end-user, the entire network appears as 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 coherent computer system</a:t>
            </a:r>
            <a:r>
              <a:rPr b="0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hiding all underlying complexities.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4724251"/>
            <a:ext cx="5334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Properties: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Concurrent execution, independent component failures, and lack of a shared global clock.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08150"/>
            <a:ext cx="5334000" cy="35940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is a Distributed System?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1917" y="2073175"/>
            <a:ext cx="5578584" cy="359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/>
          <p:nvPr/>
        </p:nvSpPr>
        <p:spPr>
          <a:xfrm>
            <a:off x="5715000" y="2771775"/>
            <a:ext cx="762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955650" y="2902339"/>
            <a:ext cx="102807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Advantages</a:t>
            </a:r>
            <a:r>
              <a:rPr b="1" i="0" lang="en-US" sz="4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&amp; </a:t>
            </a:r>
            <a:r>
              <a:rPr b="1" lang="en-US" sz="4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Disadvantages 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3257550" y="3952875"/>
            <a:ext cx="5676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Evaluating trade-offs in distributed infrastructure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2600"/>
            <a:ext cx="533400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52600"/>
            <a:ext cx="533400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95750"/>
            <a:ext cx="533400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095750"/>
            <a:ext cx="5334000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1209675" y="2047875"/>
            <a:ext cx="462057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Scalability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66775" y="2476500"/>
            <a:ext cx="4743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Systems scale horizontally by adding more compute nodes to handle increasing workloads smoothly.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6924675" y="2205037"/>
            <a:ext cx="462057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Fault Tolerance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581775" y="2633662"/>
            <a:ext cx="4743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 a single node fails, backup replicas take over seamlessly, ensuring continuous service.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266825" y="4391025"/>
            <a:ext cx="45605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Resource Sharing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66775" y="4819650"/>
            <a:ext cx="4743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Costly hardware components and datasets can be shared efficiently across various locations.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896100" y="4391025"/>
            <a:ext cx="46505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581775" y="4819650"/>
            <a:ext cx="4743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Heavy computation tasks can be broken down and processed concurrently across multiple nodes.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0907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2247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443388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81775" y="443388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Advantages of Distributed Systems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2600"/>
            <a:ext cx="533400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52600"/>
            <a:ext cx="533400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95750"/>
            <a:ext cx="533400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095750"/>
            <a:ext cx="5334000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1209675" y="2047875"/>
            <a:ext cx="462057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Complexity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66775" y="2476500"/>
            <a:ext cx="4743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Designing, debugging, and maintaining distributed apps is vastly harder than monolithic systems.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924675" y="2205037"/>
            <a:ext cx="462057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 Latency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581775" y="2633662"/>
            <a:ext cx="4743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speed is heavily bound by transmission delays, packet losses, and bandwidth limits.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181100" y="4391025"/>
            <a:ext cx="46505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Consistency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66775" y="4819650"/>
            <a:ext cx="4743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Synchronizing data consistently across independent nodes introduces complex consensus hurdles.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896100" y="4391025"/>
            <a:ext cx="46505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 Risks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581775" y="4819650"/>
            <a:ext cx="4743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Expanded network surfaces increase vulnerabilities, requiring robust encryption and controls.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0907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2247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443388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81775" y="443388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Disadvantages &amp; Challenges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/>
          <p:nvPr/>
        </p:nvSpPr>
        <p:spPr>
          <a:xfrm>
            <a:off x="5715000" y="2771775"/>
            <a:ext cx="762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2395537" y="3048000"/>
            <a:ext cx="74009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Transparency Concepts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3200400" y="3952875"/>
            <a:ext cx="57912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Hiding network distribution complexity from users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/>
          <p:nvPr/>
        </p:nvSpPr>
        <p:spPr>
          <a:xfrm>
            <a:off x="571500" y="2176462"/>
            <a:ext cx="11049000" cy="1038225"/>
          </a:xfrm>
          <a:prstGeom prst="roundRect">
            <a:avLst>
              <a:gd fmla="val 917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571500" y="3386137"/>
            <a:ext cx="11049000" cy="1038225"/>
          </a:xfrm>
          <a:prstGeom prst="roundRect">
            <a:avLst>
              <a:gd fmla="val 917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571500" y="4595812"/>
            <a:ext cx="11049000" cy="1038225"/>
          </a:xfrm>
          <a:prstGeom prst="roundRect">
            <a:avLst>
              <a:gd fmla="val 917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571500" y="32051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1200150" y="2395537"/>
            <a:ext cx="101727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Access Transparency: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Hides differences in data representation and resource access protocols. Users interact with local and remote resources uniformly.</a:t>
            </a:r>
            <a:endParaRPr sz="1800"/>
          </a:p>
        </p:txBody>
      </p:sp>
      <p:sp>
        <p:nvSpPr>
          <p:cNvPr id="170" name="Google Shape;170;p19"/>
          <p:cNvSpPr/>
          <p:nvPr/>
        </p:nvSpPr>
        <p:spPr>
          <a:xfrm>
            <a:off x="571500" y="44148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1200150" y="3605212"/>
            <a:ext cx="101727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Location Transparency: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Hides the physical location of resources. Users access services without knowing where they reside physically.</a:t>
            </a:r>
            <a:endParaRPr sz="1800"/>
          </a:p>
        </p:txBody>
      </p:sp>
      <p:sp>
        <p:nvSpPr>
          <p:cNvPr id="172" name="Google Shape;172;p19"/>
          <p:cNvSpPr/>
          <p:nvPr/>
        </p:nvSpPr>
        <p:spPr>
          <a:xfrm>
            <a:off x="571500" y="56245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1200150" y="4814887"/>
            <a:ext cx="101727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Migration &amp; Relocation: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Allows resources or active processes to move between nodes dynamically without interrupting user sessions.</a:t>
            </a:r>
            <a:endParaRPr sz="1800"/>
          </a:p>
        </p:txBody>
      </p:sp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575" y="24050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575" y="36147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0575" y="48244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Transparency Types (1/2)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/>
          <p:nvPr/>
        </p:nvSpPr>
        <p:spPr>
          <a:xfrm>
            <a:off x="571500" y="2176462"/>
            <a:ext cx="11049000" cy="1038225"/>
          </a:xfrm>
          <a:prstGeom prst="roundRect">
            <a:avLst>
              <a:gd fmla="val 917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71500" y="3386137"/>
            <a:ext cx="11049000" cy="1038225"/>
          </a:xfrm>
          <a:prstGeom prst="roundRect">
            <a:avLst>
              <a:gd fmla="val 917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71500" y="4595812"/>
            <a:ext cx="11049000" cy="1038225"/>
          </a:xfrm>
          <a:prstGeom prst="roundRect">
            <a:avLst>
              <a:gd fmla="val 917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71500" y="32051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200150" y="2395537"/>
            <a:ext cx="101727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Replication Transparency: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Presents multiple data copies across different locations as a single logical resource to improve reliability.</a:t>
            </a:r>
            <a:endParaRPr sz="1800"/>
          </a:p>
        </p:txBody>
      </p:sp>
      <p:sp>
        <p:nvSpPr>
          <p:cNvPr id="189" name="Google Shape;189;p20"/>
          <p:cNvSpPr/>
          <p:nvPr/>
        </p:nvSpPr>
        <p:spPr>
          <a:xfrm>
            <a:off x="571500" y="44148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200150" y="3605212"/>
            <a:ext cx="101727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Concurrency Transparency: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Enables multiple independent users to access and modify shared resources simultaneously without conflicts.</a:t>
            </a:r>
            <a:endParaRPr sz="1800"/>
          </a:p>
        </p:txBody>
      </p:sp>
      <p:sp>
        <p:nvSpPr>
          <p:cNvPr id="191" name="Google Shape;191;p20"/>
          <p:cNvSpPr/>
          <p:nvPr/>
        </p:nvSpPr>
        <p:spPr>
          <a:xfrm>
            <a:off x="571500" y="56245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200150" y="4814887"/>
            <a:ext cx="101727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Failure &amp; Performance: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Automatically masks hardware/network faults and adjusts system capacity dynamically under traffic spikes.</a:t>
            </a:r>
            <a:endParaRPr sz="1800"/>
          </a:p>
        </p:txBody>
      </p:sp>
      <p:pic>
        <p:nvPicPr>
          <p:cNvPr descr="image.png" id="193" name="Google Shape;1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575" y="24050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575" y="36147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0575" y="48244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Transparency Types (2/2)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/>
          <p:nvPr/>
        </p:nvSpPr>
        <p:spPr>
          <a:xfrm>
            <a:off x="571500" y="1828800"/>
            <a:ext cx="11049000" cy="4152900"/>
          </a:xfrm>
          <a:prstGeom prst="roundRect">
            <a:avLst>
              <a:gd fmla="val 0" name="adj"/>
            </a:avLst>
          </a:prstGeom>
          <a:solidFill>
            <a:srgbClr val="F8FAFC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" name="Google Shape;204;p21"/>
          <p:cNvGraphicFramePr/>
          <p:nvPr/>
        </p:nvGraphicFramePr>
        <p:xfrm>
          <a:off x="5715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{43DEA284-FEC8-4329-8C0A-8DA3C92C3736}</a:tableStyleId>
              </a:tblPr>
              <a:tblGrid>
                <a:gridCol w="2085375"/>
                <a:gridCol w="3626200"/>
                <a:gridCol w="5327900"/>
              </a:tblGrid>
              <a:tr h="83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Transparency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Primary Goal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Practical Example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83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Access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Uniform resource access methods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Opening local and remote files with identical commands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Hide physical node addresses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Accessing web services via URL without knowing server 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Replication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Manage multiple data copies seamlessly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Distributed databases synchronizing records behind scenes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Failure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Mask component crashes internally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Secondary backup server taking over automatically upon crash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21"/>
          <p:cNvSpPr/>
          <p:nvPr/>
        </p:nvSpPr>
        <p:spPr>
          <a:xfrm>
            <a:off x="576262" y="2652712"/>
            <a:ext cx="20853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2661642" y="2652712"/>
            <a:ext cx="36261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6287839" y="2652712"/>
            <a:ext cx="53278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76262" y="3481387"/>
            <a:ext cx="20853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2661642" y="3481387"/>
            <a:ext cx="36261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6287839" y="3481387"/>
            <a:ext cx="53278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76262" y="4310062"/>
            <a:ext cx="20853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2661642" y="4310062"/>
            <a:ext cx="36261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6287839" y="4310062"/>
            <a:ext cx="53278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76262" y="5138737"/>
            <a:ext cx="20853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2661642" y="5138737"/>
            <a:ext cx="36261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6287839" y="5138737"/>
            <a:ext cx="53278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Transparency Reference Matrix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/>
          <p:nvPr/>
        </p:nvSpPr>
        <p:spPr>
          <a:xfrm>
            <a:off x="5715000" y="2586037"/>
            <a:ext cx="762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3120628" y="2862262"/>
            <a:ext cx="5950743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Summary &amp; Review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71500" y="3767137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Mastering distributed architectures requires balancing scalability against operational complexity.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